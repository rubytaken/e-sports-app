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us Jakarta Sans ExtraBold"/>
      <p:bold r:id="rId16"/>
      <p:boldItalic r:id="rId17"/>
    </p:embeddedFont>
    <p:embeddedFont>
      <p:font typeface="Plus Jakarta Sans"/>
      <p:regular r:id="rId18"/>
      <p:bold r:id="rId19"/>
      <p:italic r:id="rId20"/>
      <p:boldItalic r:id="rId21"/>
    </p:embeddedFont>
    <p:embeddedFont>
      <p:font typeface="Plus Jakarta Sans SemiBold"/>
      <p:regular r:id="rId22"/>
      <p:bold r:id="rId23"/>
      <p:italic r:id="rId24"/>
      <p:boldItalic r:id="rId25"/>
    </p:embeddedFont>
    <p:embeddedFont>
      <p:font typeface="Plus Jakarta Sans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italic.fntdata"/><Relationship Id="rId22" Type="http://schemas.openxmlformats.org/officeDocument/2006/relationships/font" Target="fonts/PlusJakartaSansSemiBold-regular.fntdata"/><Relationship Id="rId21" Type="http://schemas.openxmlformats.org/officeDocument/2006/relationships/font" Target="fonts/PlusJakartaSans-boldItalic.fntdata"/><Relationship Id="rId24" Type="http://schemas.openxmlformats.org/officeDocument/2006/relationships/font" Target="fonts/PlusJakartaSansSemiBold-italic.fntdata"/><Relationship Id="rId23" Type="http://schemas.openxmlformats.org/officeDocument/2006/relationships/font" Target="fonts/PlusJakartaSa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Medium-regular.fntdata"/><Relationship Id="rId25" Type="http://schemas.openxmlformats.org/officeDocument/2006/relationships/font" Target="fonts/PlusJakartaSansSemiBold-boldItalic.fntdata"/><Relationship Id="rId28" Type="http://schemas.openxmlformats.org/officeDocument/2006/relationships/font" Target="fonts/PlusJakartaSansMedium-italic.fntdata"/><Relationship Id="rId27" Type="http://schemas.openxmlformats.org/officeDocument/2006/relationships/font" Target="fonts/PlusJakartaSans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ExtraBold-boldItalic.fntdata"/><Relationship Id="rId16" Type="http://schemas.openxmlformats.org/officeDocument/2006/relationships/font" Target="fonts/PlusJakartaSansExtraBold-bold.fntdata"/><Relationship Id="rId19" Type="http://schemas.openxmlformats.org/officeDocument/2006/relationships/font" Target="fonts/PlusJakartaSans-bold.fntdata"/><Relationship Id="rId18" Type="http://schemas.openxmlformats.org/officeDocument/2006/relationships/font" Target="fonts/PlusJakart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2b5ce8d8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2b5ce8d8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2b5ce8d80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2b5ce8d8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2b5ce8d80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2b5ce8d8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2b5ce8d80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2b5ce8d80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b5ce8d80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b5ce8d80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b5ce8d80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2b5ce8d80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2b5ce8d80_0_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2b5ce8d80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b5ce8d80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2b5ce8d80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2b5ce8d80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2b5ce8d80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2b5ce8d80_0_1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2b5ce8d80_0_1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2b5ce8d80_6_0)">
  <p:cSld name="Generated (g3e2b5ce8d80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47625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571500" y="1333500"/>
            <a:ext cx="4000500" cy="3524250"/>
            <a:chOff x="0" y="0"/>
            <a:chExt cx="4000500" cy="3524250"/>
          </a:xfrm>
        </p:grpSpPr>
        <p:sp>
          <p:nvSpPr>
            <p:cNvPr id="58" name="Google Shape;58;p14"/>
            <p:cNvSpPr/>
            <p:nvPr/>
          </p:nvSpPr>
          <p:spPr>
            <a:xfrm>
              <a:off x="0" y="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FF8C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 txBox="1"/>
            <p:nvPr/>
          </p:nvSpPr>
          <p:spPr>
            <a:xfrm>
              <a:off x="0" y="19050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r" sz="1800">
                  <a:solidFill>
                    <a:srgbClr val="FF8C00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Senior Project Presentation</a:t>
              </a:r>
              <a:endParaRPr b="0" sz="1800">
                <a:solidFill>
                  <a:srgbClr val="FF8C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0" y="571500"/>
              <a:ext cx="4000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r" sz="48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e-scores</a:t>
              </a:r>
              <a:endParaRPr b="0" sz="48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tr" sz="2400">
                  <a:solidFill>
                    <a:srgbClr val="FF8C00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Live Esports Tracker</a:t>
              </a:r>
              <a:endParaRPr b="0" sz="24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  <p:grpSp>
          <p:nvGrpSpPr>
            <p:cNvPr id="61" name="Google Shape;61;p14"/>
            <p:cNvGrpSpPr/>
            <p:nvPr/>
          </p:nvGrpSpPr>
          <p:grpSpPr>
            <a:xfrm>
              <a:off x="0" y="2286000"/>
              <a:ext cx="4000500" cy="1238250"/>
              <a:chOff x="0" y="0"/>
              <a:chExt cx="4000500" cy="1238250"/>
            </a:xfrm>
          </p:grpSpPr>
          <p:sp>
            <p:nvSpPr>
              <p:cNvPr id="62" name="Google Shape;62;p14"/>
              <p:cNvSpPr/>
              <p:nvPr/>
            </p:nvSpPr>
            <p:spPr>
              <a:xfrm>
                <a:off x="0" y="0"/>
                <a:ext cx="3810000" cy="9600"/>
              </a:xfrm>
              <a:prstGeom prst="rect">
                <a:avLst/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4"/>
              <p:cNvSpPr txBox="1"/>
              <p:nvPr/>
            </p:nvSpPr>
            <p:spPr>
              <a:xfrm>
                <a:off x="0" y="285750"/>
                <a:ext cx="40005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tr" sz="1400">
                    <a:solidFill>
                      <a:srgbClr val="E0E0E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Course: SWE492 — Spring 2026</a:t>
                </a:r>
                <a:endParaRPr b="0" sz="1400">
                  <a:solidFill>
                    <a:srgbClr val="E0E0E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tr" sz="1400">
                    <a:solidFill>
                      <a:srgbClr val="E0E0E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Developer: Emre Tosman</a:t>
                </a:r>
                <a:endParaRPr b="0" sz="1400">
                  <a:solidFill>
                    <a:srgbClr val="E0E0E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b="0" lang="tr" sz="1400">
                    <a:solidFill>
                      <a:srgbClr val="E0E0E0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ID: 20210999</a:t>
                </a:r>
                <a:endParaRPr b="0" sz="1400">
                  <a:solidFill>
                    <a:srgbClr val="E0E0E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pic>
        <p:nvPicPr>
          <p:cNvPr id="64" name="Google Shape;64;p14" title="Screenshot - 2026-05-10T012225.98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50125" y="696750"/>
            <a:ext cx="5084199" cy="38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Screenshot - 2026-05-10T012247.856.png"/>
          <p:cNvPicPr preferRelativeResize="0"/>
          <p:nvPr/>
        </p:nvPicPr>
        <p:blipFill rotWithShape="1">
          <a:blip r:embed="rId4">
            <a:alphaModFix/>
          </a:blip>
          <a:srcRect b="-66496" l="-110" r="-110" t="-66496"/>
          <a:stretch/>
        </p:blipFill>
        <p:spPr>
          <a:xfrm>
            <a:off x="4504150" y="0"/>
            <a:ext cx="4639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571500" y="762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Motivation &amp;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</a:t>
            </a:r>
            <a:endParaRPr b="0" sz="225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71500" y="1714500"/>
            <a:ext cx="38100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4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lang="tr" sz="14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Esports is a multi-billion dollar industry with millions of daily fans</a:t>
            </a:r>
            <a:endParaRPr sz="14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tr" sz="14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lang="tr" sz="14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platforms (HLTV, Liquipedia, VLR.gg) are game-specific or hard to extend</a:t>
            </a:r>
            <a:endParaRPr sz="14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tr" sz="14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lang="tr" sz="14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single, clean, multi-game tracker with an open community layer</a:t>
            </a:r>
            <a:endParaRPr sz="14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lang="tr" sz="14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400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Goal: Build a modern, responsive, real-time dashboard for all major titles</a:t>
            </a:r>
            <a:endParaRPr sz="14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 title="supabase-schema-stwbxdzqgiyyplafxyvd.png"/>
          <p:cNvPicPr preferRelativeResize="0"/>
          <p:nvPr/>
        </p:nvPicPr>
        <p:blipFill rotWithShape="1">
          <a:blip r:embed="rId3">
            <a:alphaModFix/>
          </a:blip>
          <a:srcRect b="-37028" l="450" r="-450" t="-23822"/>
          <a:stretch/>
        </p:blipFill>
        <p:spPr>
          <a:xfrm>
            <a:off x="3799400" y="0"/>
            <a:ext cx="534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571500" y="762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Modern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Tech Stack</a:t>
            </a:r>
            <a:endParaRPr b="0" sz="225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571500" y="1714500"/>
            <a:ext cx="40005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Framework: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Next.js 16 (App Router)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Language: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TypeScript 5.9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UI: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React 19 + Tailwind CSS 4 + Radix UI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Animations: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Framer Motion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Data: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TanStack Query v5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Backend: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Supabase (PostgreSQL)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APIs: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PandaScore, NewsAPI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tr" sz="12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Tools:</a:t>
            </a:r>
            <a:r>
              <a:rPr b="0" lang="tr" sz="12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Lucide React | Zod</a:t>
            </a:r>
            <a:endParaRPr b="0" sz="12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creenshot - 2026-05-17T182854.268.png"/>
          <p:cNvPicPr preferRelativeResize="0"/>
          <p:nvPr/>
        </p:nvPicPr>
        <p:blipFill rotWithShape="1">
          <a:blip r:embed="rId4">
            <a:alphaModFix/>
          </a:blip>
          <a:srcRect b="3462" l="0" r="0" t="3471"/>
          <a:stretch/>
        </p:blipFill>
        <p:spPr>
          <a:xfrm>
            <a:off x="4762500" y="0"/>
            <a:ext cx="4381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4752975" y="0"/>
            <a:ext cx="19200" cy="5143500"/>
          </a:xfrm>
          <a:prstGeom prst="rect">
            <a:avLst/>
          </a:prstGeom>
          <a:solidFill>
            <a:srgbClr val="FF8C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571500" y="762000"/>
            <a:ext cx="381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Architecture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Overview</a:t>
            </a:r>
            <a:endParaRPr b="0" sz="225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71500" y="1714500"/>
            <a:ext cx="40005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external API calls go through Next.js API Route proxies — API tokens never exposed to the browser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PandaScore proxy: smart cache headers (15s for live, 1min upcoming, 5min past, 1hr game list)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TanStack React Query: stale-time + refetch intervals per data type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Supabase client: lazy-initialized proxy to avoid build-time crashes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Client → /api/pandascore/* → api.pandascore.co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tr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Client → /api/news → newsapi.org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tr" sz="1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Client → Supabase SDK → Supabase (community data)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8" title="Screenshot - 2026-05-17T181055.891.png"/>
          <p:cNvPicPr preferRelativeResize="0"/>
          <p:nvPr/>
        </p:nvPicPr>
        <p:blipFill rotWithShape="1">
          <a:blip r:embed="rId4">
            <a:alphaModFix/>
          </a:blip>
          <a:srcRect b="-34551" l="0" r="0" t="-12099"/>
          <a:stretch/>
        </p:blipFill>
        <p:spPr>
          <a:xfrm>
            <a:off x="4762500" y="0"/>
            <a:ext cx="4381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/>
          <p:nvPr/>
        </p:nvSpPr>
        <p:spPr>
          <a:xfrm>
            <a:off x="4752975" y="0"/>
            <a:ext cx="19200" cy="5143500"/>
          </a:xfrm>
          <a:prstGeom prst="rect">
            <a:avLst/>
          </a:prstGeom>
          <a:solidFill>
            <a:srgbClr val="FF8C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571500" y="762000"/>
            <a:ext cx="381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Homepage &amp;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Matches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71500" y="1714500"/>
            <a:ext cx="4000500" cy="304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Hero section with live match count, tournament count, upcoming count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Featured live match cards with real-time score display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Ongoing tournaments section, upcoming matches, recent results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/matches page: Live / Upcoming / Past tabs, per-game filter, pagination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 title="Screenshot - 2026-05-10T012424.980.png"/>
          <p:cNvPicPr preferRelativeResize="0"/>
          <p:nvPr/>
        </p:nvPicPr>
        <p:blipFill rotWithShape="1">
          <a:blip r:embed="rId4">
            <a:alphaModFix/>
          </a:blip>
          <a:srcRect b="-32630" l="0" r="0" t="-20205"/>
          <a:stretch/>
        </p:blipFill>
        <p:spPr>
          <a:xfrm>
            <a:off x="4762500" y="0"/>
            <a:ext cx="4381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4752975" y="0"/>
            <a:ext cx="19200" cy="5143500"/>
          </a:xfrm>
          <a:prstGeom prst="rect">
            <a:avLst/>
          </a:prstGeom>
          <a:solidFill>
            <a:srgbClr val="FF8C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571500" y="762000"/>
            <a:ext cx="381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Tournaments &amp;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Community</a:t>
            </a:r>
            <a:endParaRPr b="0" sz="225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571500" y="1714500"/>
            <a:ext cx="4000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Tournaments page: Active / Upcoming / Past tabs + Tier filter (S/A/B)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Community tab: user-created tournaments stored in Supabase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"Create Tournament" modal — fill in game, format, team size, region, prize pool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Community tournament detail page: full team registration flow (multi-step form)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name, tag, captain info, player roster with roles, substitute flag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10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Registration persisted to Supabase tournament_teams + tournament_players tables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 title="Screenshot - 2026-05-10T012501.445.png"/>
          <p:cNvPicPr preferRelativeResize="0"/>
          <p:nvPr>
            <p:ph idx="2" type="pic"/>
          </p:nvPr>
        </p:nvPicPr>
        <p:blipFill rotWithShape="1">
          <a:blip r:embed="rId4">
            <a:alphaModFix/>
          </a:blip>
          <a:srcRect b="-33997" l="0" r="0" t="-21524"/>
          <a:stretch/>
        </p:blipFill>
        <p:spPr>
          <a:xfrm>
            <a:off x="4762500" y="0"/>
            <a:ext cx="4381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4752975" y="0"/>
            <a:ext cx="19200" cy="5143500"/>
          </a:xfrm>
          <a:prstGeom prst="rect">
            <a:avLst/>
          </a:prstGeom>
          <a:solidFill>
            <a:srgbClr val="FF8C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571500" y="762000"/>
            <a:ext cx="381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Teams, Players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&amp; News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571500" y="1714500"/>
            <a:ext cx="4000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/teams — paginated team list, filter by game, click for detail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detail: roster (player cards), match history, win rate, tournament appearances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/players — paginated player list with game filter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Player detail: career stats, current team, recent match history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/news — aggregated esports news via NewsAPI with keyword search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 title="Screenshot - 2026-05-10T012644.597.png"/>
          <p:cNvPicPr preferRelativeResize="0"/>
          <p:nvPr/>
        </p:nvPicPr>
        <p:blipFill rotWithShape="1">
          <a:blip r:embed="rId4">
            <a:alphaModFix/>
          </a:blip>
          <a:srcRect b="-51929" l="0" r="0" t="0"/>
          <a:stretch/>
        </p:blipFill>
        <p:spPr>
          <a:xfrm>
            <a:off x="4762500" y="0"/>
            <a:ext cx="4381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/>
          <p:nvPr/>
        </p:nvSpPr>
        <p:spPr>
          <a:xfrm>
            <a:off x="4752975" y="0"/>
            <a:ext cx="19200" cy="5143500"/>
          </a:xfrm>
          <a:prstGeom prst="rect">
            <a:avLst/>
          </a:prstGeom>
          <a:solidFill>
            <a:srgbClr val="FF8C00">
              <a:alpha val="3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571500" y="762000"/>
            <a:ext cx="381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Search &amp;</a:t>
            </a:r>
            <a:endParaRPr b="0" i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UX Features</a:t>
            </a:r>
            <a:endParaRPr b="0" i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571500" y="1714500"/>
            <a:ext cx="4000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i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Global Search (Ctrl+K / ⌘K): multi-category search with keyword highlighting and local history</a:t>
            </a:r>
            <a:endParaRPr b="0" i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i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Game Filter: persistent global filter bar supporting CS2, Dota 2, LoL, Valorant, and more</a:t>
            </a:r>
            <a:endParaRPr b="0" i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i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Dark / Light Theme: system-aware toggle with persistence and zero flash on load</a:t>
            </a:r>
            <a:endParaRPr b="0" i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i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Multi-language (i18n): EN, TR, DE, ES, FR support with header dropdown selector</a:t>
            </a:r>
            <a:endParaRPr b="0" i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0" i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i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Responsive layout: mobile-first design with adaptive grids and collapsible navigation</a:t>
            </a:r>
            <a:endParaRPr b="0" i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26" name="Google Shape;126;p21" title="Screenshot - 2026-05-10T012704.3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0875" y="3173224"/>
            <a:ext cx="2164750" cy="197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2"/>
          <p:cNvGrpSpPr/>
          <p:nvPr/>
        </p:nvGrpSpPr>
        <p:grpSpPr>
          <a:xfrm>
            <a:off x="571500" y="0"/>
            <a:ext cx="4200675" cy="5143500"/>
            <a:chOff x="571500" y="0"/>
            <a:chExt cx="4200675" cy="5143500"/>
          </a:xfrm>
        </p:grpSpPr>
        <p:sp>
          <p:nvSpPr>
            <p:cNvPr id="132" name="Google Shape;132;p22"/>
            <p:cNvSpPr/>
            <p:nvPr/>
          </p:nvSpPr>
          <p:spPr>
            <a:xfrm>
              <a:off x="4752975" y="0"/>
              <a:ext cx="19200" cy="5143500"/>
            </a:xfrm>
            <a:prstGeom prst="rect">
              <a:avLst/>
            </a:prstGeom>
            <a:solidFill>
              <a:srgbClr val="FF8C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571500" y="571500"/>
              <a:ext cx="381000" cy="38100"/>
            </a:xfrm>
            <a:prstGeom prst="roundRect">
              <a:avLst>
                <a:gd fmla="val 50000" name="adj"/>
              </a:avLst>
            </a:prstGeom>
            <a:solidFill>
              <a:srgbClr val="FF8C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22"/>
          <p:cNvSpPr txBox="1"/>
          <p:nvPr/>
        </p:nvSpPr>
        <p:spPr>
          <a:xfrm>
            <a:off x="571500" y="762000"/>
            <a:ext cx="38100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Technical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Highlights</a:t>
            </a:r>
            <a:endParaRPr b="0" sz="225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71500" y="1714500"/>
            <a:ext cx="40005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API proxy + caching strategy: protects secrets, reduces external API calls, smart TTLs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TanStack React Query: declarative server-state, automatic background sync, retry logic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Framer Motion page transitions &amp; stagger animations: PageTransition, StaggerContainer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Zod validation: form inputs in registration flow are validated client-side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image component: graceful fallback when team/player image URLs return 404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Supabase lazy proxy: prevents build-time crashes when env vars are absent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• 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hooks: useGameFilter, useLocale, useTheme, useDebounce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36" name="Google Shape;136;p22" title="Screenshot - 2026-05-10T012543.617.png"/>
          <p:cNvPicPr preferRelativeResize="0"/>
          <p:nvPr/>
        </p:nvPicPr>
        <p:blipFill rotWithShape="1">
          <a:blip r:embed="rId4">
            <a:alphaModFix/>
          </a:blip>
          <a:srcRect b="348" l="0" r="0" t="338"/>
          <a:stretch/>
        </p:blipFill>
        <p:spPr>
          <a:xfrm>
            <a:off x="4772175" y="928555"/>
            <a:ext cx="4371900" cy="32790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/>
          <p:nvPr/>
        </p:nvSpPr>
        <p:spPr>
          <a:xfrm>
            <a:off x="571500" y="571500"/>
            <a:ext cx="381000" cy="38100"/>
          </a:xfrm>
          <a:prstGeom prst="roundRect">
            <a:avLst>
              <a:gd fmla="val 50000" name="adj"/>
            </a:avLst>
          </a:prstGeom>
          <a:solidFill>
            <a:srgbClr val="FF8C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571500" y="762000"/>
            <a:ext cx="381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Conclusion &amp;</a:t>
            </a:r>
            <a:br>
              <a:rPr b="0" lang="tr" sz="225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</a:br>
            <a:r>
              <a:rPr b="0" lang="tr" sz="225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Future Work</a:t>
            </a:r>
            <a:endParaRPr b="0" sz="225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571500" y="1714500"/>
            <a:ext cx="4000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Built a full-stack, multi-game esports tracker with real-time data and a community layer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r>
              <a:rPr b="0" lang="tr" sz="1100">
                <a:solidFill>
                  <a:srgbClr val="E0E0E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11 screens, 2 external APIs, Supabase backend, 5 languages, dark/light theme</a:t>
            </a:r>
            <a:endParaRPr b="0" sz="1100">
              <a:solidFill>
                <a:srgbClr val="E0E0E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tr" sz="1100">
                <a:solidFill>
                  <a:srgbClr val="FF8C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Future work:</a:t>
            </a:r>
            <a:endParaRPr b="0" sz="1100">
              <a:solidFill>
                <a:srgbClr val="FF8C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authentication (save favorites, follow teams)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Push notifications for match start &amp; score updates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Embedded Twitch/YouTube streams on match pages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E0E0E0"/>
              </a:buClr>
              <a:buSzPts val="11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tournament brackets (single/double elimination)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900"/>
              </a:spcAft>
              <a:buClr>
                <a:srgbClr val="E0E0E0"/>
              </a:buClr>
              <a:buSzPts val="1100"/>
              <a:buFont typeface="Plus Jakarta Sans"/>
              <a:buChar char="●"/>
            </a:pPr>
            <a:r>
              <a:rPr b="0" lang="tr" sz="10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player stats charts</a:t>
            </a:r>
            <a:endParaRPr b="0" sz="10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4" name="Google Shape;144;p23" title="Screenshot - 2026-05-10T012624.663.png"/>
          <p:cNvPicPr preferRelativeResize="0"/>
          <p:nvPr/>
        </p:nvPicPr>
        <p:blipFill rotWithShape="1">
          <a:blip r:embed="rId4">
            <a:alphaModFix/>
          </a:blip>
          <a:srcRect b="-25576" l="0" r="0" t="-28960"/>
          <a:stretch/>
        </p:blipFill>
        <p:spPr>
          <a:xfrm>
            <a:off x="4762500" y="0"/>
            <a:ext cx="43815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